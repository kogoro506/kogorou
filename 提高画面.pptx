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1098" y="-8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2026/7/16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oUDJFKLyZs&amp;t=341" TargetMode="External"/><Relationship Id="rId7" Type="http://schemas.openxmlformats.org/officeDocument/2006/relationships/hyperlink" Target="https://www.youtube.com/watch?v=doUDJFKLyZs&amp;t=308" TargetMode="External"/><Relationship Id="rId2" Type="http://schemas.openxmlformats.org/officeDocument/2006/relationships/hyperlink" Target="https://www.youtube.com/watch?v=doUDJFKLyZs&amp;t=32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doUDJFKLyZs&amp;t=284" TargetMode="External"/><Relationship Id="rId5" Type="http://schemas.openxmlformats.org/officeDocument/2006/relationships/hyperlink" Target="https://www.youtube.com/watch?v=doUDJFKLyZs&amp;t=481" TargetMode="External"/><Relationship Id="rId4" Type="http://schemas.openxmlformats.org/officeDocument/2006/relationships/hyperlink" Target="https://www.youtube.com/watch?v=doUDJFKLyZs&amp;t=458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oUDJFKLyZs&amp;t=812" TargetMode="External"/><Relationship Id="rId2" Type="http://schemas.openxmlformats.org/officeDocument/2006/relationships/hyperlink" Target="https://www.youtube.com/watch?v=doUDJFKLyZs&amp;t=740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doUDJFKLyZs&amp;t=1276" TargetMode="External"/><Relationship Id="rId3" Type="http://schemas.openxmlformats.org/officeDocument/2006/relationships/hyperlink" Target="https://www.youtube.com/watch?v=doUDJFKLyZs&amp;t=1034" TargetMode="External"/><Relationship Id="rId7" Type="http://schemas.openxmlformats.org/officeDocument/2006/relationships/hyperlink" Target="https://www.youtube.com/watch?v=doUDJFKLyZs&amp;t=1226" TargetMode="External"/><Relationship Id="rId2" Type="http://schemas.openxmlformats.org/officeDocument/2006/relationships/hyperlink" Target="https://www.youtube.com/watch?v=doUDJFKLyZs&amp;t=84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doUDJFKLyZs&amp;t=1144" TargetMode="External"/><Relationship Id="rId11" Type="http://schemas.openxmlformats.org/officeDocument/2006/relationships/hyperlink" Target="https://www.youtube.com/watch?v=doUDJFKLyZs&amp;t=1526" TargetMode="External"/><Relationship Id="rId5" Type="http://schemas.openxmlformats.org/officeDocument/2006/relationships/hyperlink" Target="https://www.youtube.com/watch?v=doUDJFKLyZs&amp;t=1086" TargetMode="External"/><Relationship Id="rId10" Type="http://schemas.openxmlformats.org/officeDocument/2006/relationships/hyperlink" Target="https://www.youtube.com/watch?v=doUDJFKLyZs&amp;t=1432" TargetMode="External"/><Relationship Id="rId4" Type="http://schemas.openxmlformats.org/officeDocument/2006/relationships/hyperlink" Target="https://www.youtube.com/watch?v=doUDJFKLyZs&amp;t=1069" TargetMode="External"/><Relationship Id="rId9" Type="http://schemas.openxmlformats.org/officeDocument/2006/relationships/hyperlink" Target="https://www.youtube.com/watch?v=doUDJFKLyZs&amp;t=1350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oUDJFKLyZs&amp;t=1701" TargetMode="External"/><Relationship Id="rId2" Type="http://schemas.openxmlformats.org/officeDocument/2006/relationships/hyperlink" Target="https://www.youtube.com/watch?v=doUDJFKLyZs&amp;t=919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24FPS   </a:t>
            </a:r>
            <a:r>
              <a:rPr lang="zh-CN" altLang="en-US" dirty="0" smtClean="0"/>
              <a:t>为了动态模糊效果</a:t>
            </a:r>
            <a:endParaRPr lang="en-US" altLang="zh-CN" dirty="0" smtClean="0"/>
          </a:p>
          <a:p>
            <a:r>
              <a:rPr lang="en-US" altLang="zh-CN" dirty="0" smtClean="0"/>
              <a:t>180</a:t>
            </a:r>
            <a:r>
              <a:rPr lang="zh-CN" altLang="en-US" dirty="0" smtClean="0"/>
              <a:t>度 </a:t>
            </a:r>
            <a:r>
              <a:rPr lang="en-US" altLang="zh-CN" dirty="0" smtClean="0"/>
              <a:t>shutter rule</a:t>
            </a:r>
          </a:p>
          <a:p>
            <a:r>
              <a:rPr lang="en-US" altLang="zh-CN" dirty="0" smtClean="0"/>
              <a:t>Framerate:24fps</a:t>
            </a:r>
          </a:p>
          <a:p>
            <a:r>
              <a:rPr lang="en-US" altLang="zh-CN" dirty="0" smtClean="0"/>
              <a:t>1/48</a:t>
            </a:r>
            <a:r>
              <a:rPr lang="en-US" altLang="zh-CN" baseline="30000" dirty="0" smtClean="0"/>
              <a:t>th</a:t>
            </a:r>
            <a:r>
              <a:rPr lang="en-US" altLang="zh-CN" dirty="0" smtClean="0"/>
              <a:t> of a second</a:t>
            </a:r>
          </a:p>
          <a:p>
            <a:r>
              <a:rPr lang="zh-CN" altLang="en-US" dirty="0" smtClean="0"/>
              <a:t>设</a:t>
            </a:r>
            <a:r>
              <a:rPr lang="zh-CN" altLang="en-US" dirty="0" smtClean="0"/>
              <a:t>为</a:t>
            </a:r>
            <a:r>
              <a:rPr lang="en-US" altLang="zh-CN" dirty="0" smtClean="0"/>
              <a:t>0.5    24fps</a:t>
            </a:r>
            <a:r>
              <a:rPr lang="zh-CN" altLang="en-US" dirty="0" smtClean="0"/>
              <a:t>最自然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628" y="2500306"/>
            <a:ext cx="2999789" cy="1862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72066" y="4500570"/>
            <a:ext cx="3676635" cy="2038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4348" y="4929198"/>
            <a:ext cx="3890939" cy="1693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有了景深，镜头变形，雾霾，动态模糊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2X  slow motion:48fps</a:t>
            </a:r>
          </a:p>
          <a:p>
            <a:r>
              <a:rPr lang="en-US" altLang="zh-CN" dirty="0" smtClean="0"/>
              <a:t>5X slow motion:120fps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42910" y="1928802"/>
            <a:ext cx="4572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dirty="0" smtClean="0"/>
              <a:t>镜头语言与景深 </a:t>
            </a:r>
            <a:r>
              <a:rPr lang="en-US" altLang="zh-CN" b="1" dirty="0" smtClean="0"/>
              <a:t>(Film Back &amp; Depth of Field)</a:t>
            </a:r>
          </a:p>
          <a:p>
            <a:r>
              <a:rPr lang="zh-CN" altLang="en-US" b="1" dirty="0" smtClean="0"/>
              <a:t>利用胶片后背（</a:t>
            </a:r>
            <a:r>
              <a:rPr lang="en-US" altLang="zh-CN" b="1" dirty="0" smtClean="0"/>
              <a:t>Film Back</a:t>
            </a:r>
            <a:r>
              <a:rPr lang="zh-CN" altLang="en-US" b="1" dirty="0" smtClean="0"/>
              <a:t>）</a:t>
            </a:r>
            <a:r>
              <a:rPr lang="zh-CN" altLang="en-US" dirty="0" smtClean="0"/>
              <a:t>：调整胶片后背大小会影响视野（</a:t>
            </a:r>
            <a:r>
              <a:rPr lang="en-US" altLang="zh-CN" dirty="0" smtClean="0"/>
              <a:t>FOV</a:t>
            </a:r>
            <a:r>
              <a:rPr lang="zh-CN" altLang="en-US" dirty="0" smtClean="0"/>
              <a:t>）。传感器越大，视野越广。利用这一特性，可以配合更长焦的镜头来拍摄，从而增强景深效果 </a:t>
            </a:r>
            <a:r>
              <a:rPr lang="en-US" altLang="zh-CN" dirty="0" smtClean="0"/>
              <a:t>[</a:t>
            </a:r>
            <a:r>
              <a:rPr lang="en-US" altLang="zh-CN" dirty="0" smtClean="0">
                <a:hlinkClick r:id="rId2"/>
              </a:rPr>
              <a:t>05:22</a:t>
            </a:r>
            <a:r>
              <a:rPr lang="zh-CN" altLang="en-US" dirty="0" smtClean="0">
                <a:hlinkClick r:id="rId2"/>
              </a:rPr>
              <a:t>在新窗口中打开</a:t>
            </a:r>
            <a:r>
              <a:rPr lang="en-US" altLang="zh-CN" dirty="0" smtClean="0"/>
              <a:t>], [</a:t>
            </a:r>
            <a:r>
              <a:rPr lang="en-US" altLang="zh-CN" dirty="0" smtClean="0">
                <a:hlinkClick r:id="rId3"/>
              </a:rPr>
              <a:t>05:41</a:t>
            </a:r>
            <a:r>
              <a:rPr lang="zh-CN" altLang="en-US" dirty="0" smtClean="0">
                <a:hlinkClick r:id="rId3"/>
              </a:rPr>
              <a:t>在新窗口中打开</a:t>
            </a:r>
            <a:r>
              <a:rPr lang="en-US" altLang="zh-CN" dirty="0" smtClean="0"/>
              <a:t>]</a:t>
            </a:r>
            <a:r>
              <a:rPr lang="zh-CN" altLang="en-US" dirty="0" smtClean="0"/>
              <a:t>。</a:t>
            </a:r>
          </a:p>
          <a:p>
            <a:r>
              <a:rPr lang="zh-CN" altLang="en-US" b="1" dirty="0" smtClean="0"/>
              <a:t>拒绝常用 </a:t>
            </a:r>
            <a:r>
              <a:rPr lang="en-US" altLang="zh-CN" b="1" dirty="0" smtClean="0"/>
              <a:t>35mm</a:t>
            </a:r>
            <a:r>
              <a:rPr lang="zh-CN" altLang="en-US" dirty="0" smtClean="0"/>
              <a:t>：</a:t>
            </a:r>
            <a:r>
              <a:rPr lang="en-US" altLang="zh-CN" dirty="0" smtClean="0"/>
              <a:t>35mm </a:t>
            </a:r>
            <a:r>
              <a:rPr lang="zh-CN" altLang="en-US" dirty="0" smtClean="0"/>
              <a:t>镜头在近景拍摄时容易产生畸变。建议尝试 </a:t>
            </a:r>
            <a:r>
              <a:rPr lang="en-US" altLang="zh-CN" b="1" dirty="0" smtClean="0"/>
              <a:t>85mm</a:t>
            </a:r>
            <a:r>
              <a:rPr lang="zh-CN" altLang="en-US" dirty="0" smtClean="0"/>
              <a:t> 甚至 </a:t>
            </a:r>
            <a:r>
              <a:rPr lang="en-US" altLang="zh-CN" b="1" dirty="0" smtClean="0"/>
              <a:t>200mm</a:t>
            </a:r>
            <a:r>
              <a:rPr lang="zh-CN" altLang="en-US" dirty="0" smtClean="0"/>
              <a:t> 的长焦镜头，它们能更好地压缩背景，呈现出电影中常见的特写效果 </a:t>
            </a:r>
            <a:r>
              <a:rPr lang="en-US" altLang="zh-CN" dirty="0" smtClean="0"/>
              <a:t>[</a:t>
            </a:r>
            <a:r>
              <a:rPr lang="en-US" altLang="zh-CN" dirty="0" smtClean="0">
                <a:hlinkClick r:id="rId4"/>
              </a:rPr>
              <a:t>07:38</a:t>
            </a:r>
            <a:r>
              <a:rPr lang="zh-CN" altLang="en-US" dirty="0" smtClean="0">
                <a:hlinkClick r:id="rId4"/>
              </a:rPr>
              <a:t>在新窗口中打开</a:t>
            </a:r>
            <a:r>
              <a:rPr lang="en-US" altLang="zh-CN" dirty="0" smtClean="0"/>
              <a:t>], [</a:t>
            </a:r>
            <a:r>
              <a:rPr lang="en-US" altLang="zh-CN" dirty="0" smtClean="0">
                <a:hlinkClick r:id="rId5"/>
              </a:rPr>
              <a:t>08:01</a:t>
            </a:r>
            <a:r>
              <a:rPr lang="zh-CN" altLang="en-US" dirty="0" smtClean="0">
                <a:hlinkClick r:id="rId5"/>
              </a:rPr>
              <a:t>在新窗口中打开</a:t>
            </a:r>
            <a:r>
              <a:rPr lang="en-US" altLang="zh-CN" dirty="0" smtClean="0"/>
              <a:t>]</a:t>
            </a:r>
            <a:r>
              <a:rPr lang="zh-CN" altLang="en-US" dirty="0" smtClean="0"/>
              <a:t>。</a:t>
            </a:r>
          </a:p>
          <a:p>
            <a:r>
              <a:rPr lang="zh-CN" altLang="en-US" b="1" dirty="0" smtClean="0"/>
              <a:t>重视景深</a:t>
            </a:r>
            <a:r>
              <a:rPr lang="zh-CN" altLang="en-US" dirty="0" smtClean="0"/>
              <a:t>：景深不仅能让主体突出，也是掩盖背景杂乱的绝佳手段，不要因为游戏优化需求而舍弃它 </a:t>
            </a:r>
            <a:r>
              <a:rPr lang="en-US" altLang="zh-CN" dirty="0" smtClean="0"/>
              <a:t>[</a:t>
            </a:r>
            <a:r>
              <a:rPr lang="en-US" altLang="zh-CN" dirty="0" smtClean="0">
                <a:hlinkClick r:id="rId6"/>
              </a:rPr>
              <a:t>04:44</a:t>
            </a:r>
            <a:r>
              <a:rPr lang="zh-CN" altLang="en-US" dirty="0" smtClean="0">
                <a:hlinkClick r:id="rId6"/>
              </a:rPr>
              <a:t>在新窗口中打开</a:t>
            </a:r>
            <a:r>
              <a:rPr lang="en-US" altLang="zh-CN" dirty="0" smtClean="0"/>
              <a:t>], [</a:t>
            </a:r>
            <a:r>
              <a:rPr lang="en-US" altLang="zh-CN" dirty="0" smtClean="0">
                <a:hlinkClick r:id="rId7"/>
              </a:rPr>
              <a:t>05:08</a:t>
            </a:r>
            <a:r>
              <a:rPr lang="zh-CN" altLang="en-US" dirty="0" smtClean="0">
                <a:hlinkClick r:id="rId7"/>
              </a:rPr>
              <a:t>在新窗口中打开</a:t>
            </a:r>
            <a:r>
              <a:rPr lang="en-US" altLang="zh-CN" dirty="0" smtClean="0"/>
              <a:t>]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286000" y="2551837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b="1" dirty="0" smtClean="0"/>
              <a:t>3. </a:t>
            </a:r>
            <a:r>
              <a:rPr lang="zh-CN" altLang="en-US" b="1" dirty="0" smtClean="0"/>
              <a:t>画面比例 </a:t>
            </a:r>
            <a:r>
              <a:rPr lang="en-US" altLang="zh-CN" b="1" dirty="0" smtClean="0"/>
              <a:t>(Aspect Ratio)</a:t>
            </a:r>
          </a:p>
          <a:p>
            <a:r>
              <a:rPr lang="zh-CN" altLang="en-US" b="1" dirty="0" smtClean="0"/>
              <a:t>推荐 </a:t>
            </a:r>
            <a:r>
              <a:rPr lang="en-US" altLang="zh-CN" b="1" dirty="0" smtClean="0"/>
              <a:t>2.35:1</a:t>
            </a:r>
            <a:r>
              <a:rPr lang="zh-CN" altLang="en-US" dirty="0" smtClean="0"/>
              <a:t>：虽然这并非绝对，但使用 </a:t>
            </a:r>
            <a:r>
              <a:rPr lang="en-US" altLang="zh-CN" dirty="0" smtClean="0"/>
              <a:t>2.35:1 </a:t>
            </a:r>
            <a:r>
              <a:rPr lang="zh-CN" altLang="en-US" dirty="0" smtClean="0"/>
              <a:t>的宽银幕比例能通过视觉暗示瞬间让人联想到电影。但这仅仅是形式，不能代替前期的摄影和构图 </a:t>
            </a:r>
            <a:r>
              <a:rPr lang="en-US" altLang="zh-CN" dirty="0" smtClean="0"/>
              <a:t>[</a:t>
            </a:r>
            <a:r>
              <a:rPr lang="en-US" altLang="zh-CN" dirty="0" smtClean="0">
                <a:hlinkClick r:id="rId2"/>
              </a:rPr>
              <a:t>12:20</a:t>
            </a:r>
            <a:r>
              <a:rPr lang="zh-CN" altLang="en-US" dirty="0" smtClean="0">
                <a:hlinkClick r:id="rId2"/>
              </a:rPr>
              <a:t>在新窗口中打开</a:t>
            </a:r>
            <a:r>
              <a:rPr lang="en-US" altLang="zh-CN" dirty="0" smtClean="0"/>
              <a:t>], [</a:t>
            </a:r>
            <a:r>
              <a:rPr lang="en-US" altLang="zh-CN" dirty="0" smtClean="0">
                <a:hlinkClick r:id="rId3"/>
              </a:rPr>
              <a:t>13:32</a:t>
            </a:r>
            <a:r>
              <a:rPr lang="zh-CN" altLang="en-US" dirty="0" smtClean="0">
                <a:hlinkClick r:id="rId3"/>
              </a:rPr>
              <a:t>在新窗口中打开</a:t>
            </a:r>
            <a:r>
              <a:rPr lang="en-US" altLang="zh-CN" dirty="0" smtClean="0"/>
              <a:t>]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57158" y="714355"/>
            <a:ext cx="814393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/>
              <a:t>4. </a:t>
            </a:r>
            <a:r>
              <a:rPr lang="zh-CN" altLang="en-US" b="1" dirty="0" smtClean="0"/>
              <a:t>后期制作 </a:t>
            </a:r>
            <a:r>
              <a:rPr lang="en-US" altLang="zh-CN" b="1" dirty="0" smtClean="0"/>
              <a:t>(Post-Production)——</a:t>
            </a:r>
            <a:r>
              <a:rPr lang="zh-CN" altLang="en-US" b="1" dirty="0" smtClean="0"/>
              <a:t>最关键的一环</a:t>
            </a:r>
          </a:p>
          <a:p>
            <a:r>
              <a:rPr lang="zh-CN" altLang="en-US" dirty="0" smtClean="0"/>
              <a:t>视频强调，虚幻引擎渲染出的画面仅仅是“半成品”，后期处理才是决定电影感的关键 </a:t>
            </a:r>
            <a:r>
              <a:rPr lang="en-US" altLang="zh-CN" dirty="0" smtClean="0"/>
              <a:t>[</a:t>
            </a:r>
            <a:r>
              <a:rPr lang="en-US" altLang="zh-CN" dirty="0" smtClean="0">
                <a:hlinkClick r:id="rId2"/>
              </a:rPr>
              <a:t>14:00</a:t>
            </a:r>
            <a:r>
              <a:rPr lang="zh-CN" altLang="en-US" dirty="0" smtClean="0">
                <a:hlinkClick r:id="rId2"/>
              </a:rPr>
              <a:t>在新窗口中打开</a:t>
            </a:r>
            <a:r>
              <a:rPr lang="en-US" altLang="zh-CN" dirty="0" smtClean="0"/>
              <a:t>]</a:t>
            </a:r>
            <a:r>
              <a:rPr lang="zh-CN" altLang="en-US" dirty="0" smtClean="0"/>
              <a:t>。他建议在达芬奇（</a:t>
            </a:r>
            <a:r>
              <a:rPr lang="en-US" altLang="zh-CN" dirty="0" err="1" smtClean="0"/>
              <a:t>DaVinci</a:t>
            </a:r>
            <a:r>
              <a:rPr lang="en-US" altLang="zh-CN" dirty="0" smtClean="0"/>
              <a:t> Resolve</a:t>
            </a:r>
            <a:r>
              <a:rPr lang="zh-CN" altLang="en-US" dirty="0" smtClean="0"/>
              <a:t>）等软件中进行以下操作：</a:t>
            </a:r>
          </a:p>
          <a:p>
            <a:r>
              <a:rPr lang="zh-CN" altLang="en-US" b="1" dirty="0" smtClean="0"/>
              <a:t>曲线调整 </a:t>
            </a:r>
            <a:r>
              <a:rPr lang="en-US" altLang="zh-CN" b="1" dirty="0" smtClean="0"/>
              <a:t>(Curves)</a:t>
            </a:r>
            <a:r>
              <a:rPr lang="zh-CN" altLang="en-US" dirty="0" smtClean="0"/>
              <a:t>：通过曲线调整高光和暗部，增加对比度，告别平淡的原始渲染图 </a:t>
            </a:r>
            <a:r>
              <a:rPr lang="en-US" altLang="zh-CN" dirty="0" smtClean="0"/>
              <a:t>[</a:t>
            </a:r>
            <a:r>
              <a:rPr lang="en-US" altLang="zh-CN" dirty="0" smtClean="0">
                <a:hlinkClick r:id="rId3"/>
              </a:rPr>
              <a:t>17:14</a:t>
            </a:r>
            <a:r>
              <a:rPr lang="zh-CN" altLang="en-US" dirty="0" smtClean="0">
                <a:hlinkClick r:id="rId3"/>
              </a:rPr>
              <a:t>在新窗口中打开</a:t>
            </a:r>
            <a:r>
              <a:rPr lang="en-US" altLang="zh-CN" dirty="0" smtClean="0"/>
              <a:t>]</a:t>
            </a:r>
            <a:r>
              <a:rPr lang="zh-CN" altLang="en-US" dirty="0" smtClean="0"/>
              <a:t>。</a:t>
            </a:r>
          </a:p>
          <a:p>
            <a:r>
              <a:rPr lang="zh-CN" altLang="en-US" b="1" dirty="0" smtClean="0"/>
              <a:t>光效与色彩</a:t>
            </a:r>
            <a:r>
              <a:rPr lang="zh-CN" altLang="en-US" dirty="0" smtClean="0"/>
              <a:t>：利用渐变（</a:t>
            </a:r>
            <a:r>
              <a:rPr lang="en-US" altLang="zh-CN" dirty="0" smtClean="0"/>
              <a:t>Gradient</a:t>
            </a:r>
            <a:r>
              <a:rPr lang="zh-CN" altLang="en-US" dirty="0" smtClean="0"/>
              <a:t>）进行局部亮度控制；通过着色（</a:t>
            </a:r>
            <a:r>
              <a:rPr lang="en-US" altLang="zh-CN" dirty="0" smtClean="0"/>
              <a:t>Color Variation</a:t>
            </a:r>
            <a:r>
              <a:rPr lang="zh-CN" altLang="en-US" dirty="0" smtClean="0"/>
              <a:t>）平衡画面冷暖，避免局部过暖 </a:t>
            </a:r>
            <a:r>
              <a:rPr lang="en-US" altLang="zh-CN" dirty="0" smtClean="0"/>
              <a:t>[</a:t>
            </a:r>
            <a:r>
              <a:rPr lang="en-US" altLang="zh-CN" dirty="0" smtClean="0">
                <a:hlinkClick r:id="rId4"/>
              </a:rPr>
              <a:t>17:49</a:t>
            </a:r>
            <a:r>
              <a:rPr lang="zh-CN" altLang="en-US" dirty="0" smtClean="0">
                <a:hlinkClick r:id="rId4"/>
              </a:rPr>
              <a:t>在新窗口中打开</a:t>
            </a:r>
            <a:r>
              <a:rPr lang="en-US" altLang="zh-CN" dirty="0" smtClean="0"/>
              <a:t>], [</a:t>
            </a:r>
            <a:r>
              <a:rPr lang="en-US" altLang="zh-CN" dirty="0" smtClean="0">
                <a:hlinkClick r:id="rId5"/>
              </a:rPr>
              <a:t>18:06</a:t>
            </a:r>
            <a:r>
              <a:rPr lang="zh-CN" altLang="en-US" dirty="0" smtClean="0">
                <a:hlinkClick r:id="rId5"/>
              </a:rPr>
              <a:t>在新窗口中打开</a:t>
            </a:r>
            <a:r>
              <a:rPr lang="en-US" altLang="zh-CN" dirty="0" smtClean="0"/>
              <a:t>]</a:t>
            </a:r>
            <a:r>
              <a:rPr lang="zh-CN" altLang="en-US" dirty="0" smtClean="0"/>
              <a:t>。</a:t>
            </a:r>
          </a:p>
          <a:p>
            <a:r>
              <a:rPr lang="zh-CN" altLang="en-US" b="1" dirty="0" smtClean="0"/>
              <a:t>受控的镜头光晕 </a:t>
            </a:r>
            <a:r>
              <a:rPr lang="en-US" altLang="zh-CN" b="1" dirty="0" smtClean="0"/>
              <a:t>(Lens Flare)</a:t>
            </a:r>
            <a:r>
              <a:rPr lang="zh-CN" altLang="en-US" dirty="0" smtClean="0"/>
              <a:t>：适度使用，增加镜头的真实感。这能提升画面光影的物理交互感，使之看起来不那么像 </a:t>
            </a:r>
            <a:r>
              <a:rPr lang="en-US" altLang="zh-CN" dirty="0" smtClean="0"/>
              <a:t>CGI [</a:t>
            </a:r>
            <a:r>
              <a:rPr lang="en-US" altLang="zh-CN" dirty="0" smtClean="0">
                <a:hlinkClick r:id="rId6"/>
              </a:rPr>
              <a:t>19:04</a:t>
            </a:r>
            <a:r>
              <a:rPr lang="zh-CN" altLang="en-US" dirty="0" smtClean="0">
                <a:hlinkClick r:id="rId6"/>
              </a:rPr>
              <a:t>在新窗口中打开</a:t>
            </a:r>
            <a:r>
              <a:rPr lang="en-US" altLang="zh-CN" dirty="0" smtClean="0"/>
              <a:t>]</a:t>
            </a:r>
            <a:r>
              <a:rPr lang="zh-CN" altLang="en-US" dirty="0" smtClean="0"/>
              <a:t>。</a:t>
            </a:r>
          </a:p>
          <a:p>
            <a:r>
              <a:rPr lang="zh-CN" altLang="en-US" b="1" dirty="0" smtClean="0"/>
              <a:t>精确的色差 </a:t>
            </a:r>
            <a:r>
              <a:rPr lang="en-US" altLang="zh-CN" b="1" dirty="0" smtClean="0"/>
              <a:t>(Chromatic Aberration)</a:t>
            </a:r>
            <a:r>
              <a:rPr lang="zh-CN" altLang="en-US" dirty="0" smtClean="0"/>
              <a:t>：</a:t>
            </a:r>
            <a:r>
              <a:rPr lang="zh-CN" altLang="en-US" b="1" dirty="0" smtClean="0"/>
              <a:t>切忌全局应用！</a:t>
            </a:r>
            <a:r>
              <a:rPr lang="zh-CN" altLang="en-US" dirty="0" smtClean="0"/>
              <a:t> 真实的色差只出现在高对比度区域。应使用遮罩（</a:t>
            </a:r>
            <a:r>
              <a:rPr lang="en-US" altLang="zh-CN" dirty="0" smtClean="0"/>
              <a:t>Mask</a:t>
            </a:r>
            <a:r>
              <a:rPr lang="zh-CN" altLang="en-US" dirty="0" smtClean="0"/>
              <a:t>）将效果限制在画面边缘的高对比部分 </a:t>
            </a:r>
            <a:r>
              <a:rPr lang="en-US" altLang="zh-CN" dirty="0" smtClean="0"/>
              <a:t>[</a:t>
            </a:r>
            <a:r>
              <a:rPr lang="en-US" altLang="zh-CN" dirty="0" smtClean="0">
                <a:hlinkClick r:id="rId7"/>
              </a:rPr>
              <a:t>20:26</a:t>
            </a:r>
            <a:r>
              <a:rPr lang="zh-CN" altLang="en-US" dirty="0" smtClean="0">
                <a:hlinkClick r:id="rId7"/>
              </a:rPr>
              <a:t>在新窗口中打开</a:t>
            </a:r>
            <a:r>
              <a:rPr lang="en-US" altLang="zh-CN" dirty="0" smtClean="0"/>
              <a:t>], [</a:t>
            </a:r>
            <a:r>
              <a:rPr lang="en-US" altLang="zh-CN" dirty="0" smtClean="0">
                <a:hlinkClick r:id="rId8"/>
              </a:rPr>
              <a:t>21:16</a:t>
            </a:r>
            <a:r>
              <a:rPr lang="zh-CN" altLang="en-US" dirty="0" smtClean="0">
                <a:hlinkClick r:id="rId8"/>
              </a:rPr>
              <a:t>在新窗口中打开</a:t>
            </a:r>
            <a:r>
              <a:rPr lang="en-US" altLang="zh-CN" dirty="0" smtClean="0"/>
              <a:t>], [</a:t>
            </a:r>
            <a:r>
              <a:rPr lang="en-US" altLang="zh-CN" dirty="0" smtClean="0">
                <a:hlinkClick r:id="rId9"/>
              </a:rPr>
              <a:t>22:30</a:t>
            </a:r>
            <a:r>
              <a:rPr lang="zh-CN" altLang="en-US" dirty="0" smtClean="0">
                <a:hlinkClick r:id="rId9"/>
              </a:rPr>
              <a:t>在新窗口中打开</a:t>
            </a:r>
            <a:r>
              <a:rPr lang="en-US" altLang="zh-CN" dirty="0" smtClean="0"/>
              <a:t>]</a:t>
            </a:r>
            <a:r>
              <a:rPr lang="zh-CN" altLang="en-US" dirty="0" smtClean="0"/>
              <a:t>。</a:t>
            </a:r>
          </a:p>
          <a:p>
            <a:r>
              <a:rPr lang="zh-CN" altLang="en-US" b="1" dirty="0" smtClean="0"/>
              <a:t>胶片颗粒 </a:t>
            </a:r>
            <a:r>
              <a:rPr lang="en-US" altLang="zh-CN" b="1" dirty="0" smtClean="0"/>
              <a:t>(Film Grain)</a:t>
            </a:r>
            <a:r>
              <a:rPr lang="zh-CN" altLang="en-US" dirty="0" smtClean="0"/>
              <a:t>：这是让 </a:t>
            </a:r>
            <a:r>
              <a:rPr lang="en-US" altLang="zh-CN" dirty="0" smtClean="0"/>
              <a:t>CG </a:t>
            </a:r>
            <a:r>
              <a:rPr lang="zh-CN" altLang="en-US" dirty="0" smtClean="0"/>
              <a:t>画面获得“有机质感”的利器。</a:t>
            </a:r>
            <a:r>
              <a:rPr lang="en-US" altLang="zh-CN" dirty="0" smtClean="0"/>
              <a:t>CG </a:t>
            </a:r>
            <a:r>
              <a:rPr lang="zh-CN" altLang="en-US" dirty="0" smtClean="0"/>
              <a:t>画面往往太干净，加入颗粒感可以模拟真实摄影机的感光特性，极大地提升真实度 </a:t>
            </a:r>
            <a:r>
              <a:rPr lang="en-US" altLang="zh-CN" dirty="0" smtClean="0"/>
              <a:t>[</a:t>
            </a:r>
            <a:r>
              <a:rPr lang="en-US" altLang="zh-CN" dirty="0" smtClean="0">
                <a:hlinkClick r:id="rId10"/>
              </a:rPr>
              <a:t>23:52</a:t>
            </a:r>
            <a:r>
              <a:rPr lang="zh-CN" altLang="en-US" dirty="0" smtClean="0">
                <a:hlinkClick r:id="rId10"/>
              </a:rPr>
              <a:t>在新窗口中打开</a:t>
            </a:r>
            <a:r>
              <a:rPr lang="en-US" altLang="zh-CN" dirty="0" smtClean="0"/>
              <a:t>], [</a:t>
            </a:r>
            <a:r>
              <a:rPr lang="en-US" altLang="zh-CN" dirty="0" smtClean="0">
                <a:hlinkClick r:id="rId11"/>
              </a:rPr>
              <a:t>25:26</a:t>
            </a:r>
            <a:r>
              <a:rPr lang="zh-CN" altLang="en-US" dirty="0" smtClean="0">
                <a:hlinkClick r:id="rId11"/>
              </a:rPr>
              <a:t>在新窗口中打开</a:t>
            </a:r>
            <a:r>
              <a:rPr lang="en-US" altLang="zh-CN" dirty="0" smtClean="0"/>
              <a:t>]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86000" y="2551837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 smtClean="0"/>
              <a:t>William </a:t>
            </a:r>
            <a:r>
              <a:rPr lang="zh-CN" altLang="en-US" dirty="0" smtClean="0"/>
              <a:t>的核心理念是：</a:t>
            </a:r>
            <a:r>
              <a:rPr lang="zh-CN" altLang="en-US" b="1" dirty="0" smtClean="0"/>
              <a:t>真实感不等于绝对的清晰和高解析度</a:t>
            </a:r>
            <a:r>
              <a:rPr lang="zh-CN" altLang="en-US" dirty="0" smtClean="0"/>
              <a:t>。电影往往带有镜头缺陷、模糊和瑕疵，适当在后期“破坏”画面（添加颗粒、光晕、色差），反而能让你的 </a:t>
            </a:r>
            <a:r>
              <a:rPr lang="en-US" altLang="zh-CN" dirty="0" smtClean="0"/>
              <a:t>3D </a:t>
            </a:r>
            <a:r>
              <a:rPr lang="zh-CN" altLang="en-US" dirty="0" smtClean="0"/>
              <a:t>场景更具电影底片感 </a:t>
            </a:r>
            <a:r>
              <a:rPr lang="en-US" altLang="zh-CN" dirty="0" smtClean="0"/>
              <a:t>[</a:t>
            </a:r>
            <a:r>
              <a:rPr lang="en-US" altLang="zh-CN" dirty="0" smtClean="0">
                <a:hlinkClick r:id="rId2"/>
              </a:rPr>
              <a:t>15:19</a:t>
            </a:r>
            <a:r>
              <a:rPr lang="zh-CN" altLang="en-US" dirty="0" smtClean="0">
                <a:hlinkClick r:id="rId2"/>
              </a:rPr>
              <a:t>在新窗口中打开</a:t>
            </a:r>
            <a:r>
              <a:rPr lang="en-US" altLang="zh-CN" dirty="0" smtClean="0"/>
              <a:t>], [</a:t>
            </a:r>
            <a:r>
              <a:rPr lang="en-US" altLang="zh-CN" dirty="0" smtClean="0">
                <a:hlinkClick r:id="rId3"/>
              </a:rPr>
              <a:t>28:21</a:t>
            </a:r>
            <a:r>
              <a:rPr lang="zh-CN" altLang="en-US" dirty="0" smtClean="0">
                <a:hlinkClick r:id="rId3"/>
              </a:rPr>
              <a:t>在新窗口中打开</a:t>
            </a:r>
            <a:r>
              <a:rPr lang="en-US" altLang="zh-CN" dirty="0" smtClean="0"/>
              <a:t>]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One small change to LEVEL UP your 3D Art.</a:t>
            </a:r>
            <a:br>
              <a:rPr lang="en-US" b="1" dirty="0" smtClean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altLang="zh-CN" b="1" dirty="0" smtClean="0"/>
              <a:t>1. </a:t>
            </a:r>
            <a:r>
              <a:rPr lang="zh-CN" altLang="en-US" b="1" dirty="0" smtClean="0"/>
              <a:t>摄影思维的引入</a:t>
            </a:r>
          </a:p>
          <a:p>
            <a:r>
              <a:rPr lang="zh-CN" altLang="en-US" b="1" dirty="0" smtClean="0"/>
              <a:t>掌握基本功</a:t>
            </a:r>
            <a:r>
              <a:rPr lang="zh-CN" altLang="en-US" dirty="0" smtClean="0"/>
              <a:t>：不仅要学习建模、光影和材质，更要深入理解</a:t>
            </a:r>
            <a:r>
              <a:rPr lang="zh-CN" altLang="en-US" b="1" dirty="0" smtClean="0"/>
              <a:t>摄影、构图、灯光和故事叙事</a:t>
            </a:r>
            <a:r>
              <a:rPr lang="zh-CN" altLang="en-US" dirty="0" smtClean="0"/>
              <a:t>的底层逻辑。</a:t>
            </a:r>
          </a:p>
          <a:p>
            <a:r>
              <a:rPr lang="zh-CN" altLang="en-US" b="1" dirty="0" smtClean="0"/>
              <a:t>走出默认设置</a:t>
            </a:r>
            <a:r>
              <a:rPr lang="zh-CN" altLang="en-US" dirty="0" smtClean="0"/>
              <a:t>：很多新手艺术家习惯直接使用软件的默认相机（例如 </a:t>
            </a:r>
            <a:r>
              <a:rPr lang="en-US" altLang="zh-CN" dirty="0" smtClean="0"/>
              <a:t>Blender </a:t>
            </a:r>
            <a:r>
              <a:rPr lang="zh-CN" altLang="en-US" dirty="0" smtClean="0"/>
              <a:t>默认的 </a:t>
            </a:r>
            <a:r>
              <a:rPr lang="en-US" altLang="zh-CN" dirty="0" smtClean="0"/>
              <a:t>50mm </a:t>
            </a:r>
            <a:r>
              <a:rPr lang="zh-CN" altLang="en-US" dirty="0" smtClean="0"/>
              <a:t>镜头而不做任何调整）。学会主动寻找构图角度、设置景深、选择不同焦段的镜头，是区分优秀艺术家的重要“过滤器”。</a:t>
            </a:r>
          </a:p>
          <a:p>
            <a:r>
              <a:rPr lang="en-US" altLang="zh-CN" b="1" dirty="0" smtClean="0"/>
              <a:t>2. </a:t>
            </a:r>
            <a:r>
              <a:rPr lang="zh-CN" altLang="en-US" b="1" dirty="0" smtClean="0"/>
              <a:t>模拟真实相机的复杂性</a:t>
            </a:r>
          </a:p>
          <a:p>
            <a:r>
              <a:rPr lang="zh-CN" altLang="en-US" b="1" dirty="0" smtClean="0"/>
              <a:t>物理特性模拟</a:t>
            </a:r>
            <a:r>
              <a:rPr lang="zh-CN" altLang="en-US" dirty="0" smtClean="0"/>
              <a:t>：不要仅仅追求 </a:t>
            </a:r>
            <a:r>
              <a:rPr lang="en-US" altLang="zh-CN" dirty="0" smtClean="0"/>
              <a:t>CG </a:t>
            </a:r>
            <a:r>
              <a:rPr lang="zh-CN" altLang="en-US" dirty="0" smtClean="0"/>
              <a:t>的“完美”和“极度清晰”。真实的摄影作品往往带有相机的物理特征，如：</a:t>
            </a:r>
          </a:p>
          <a:p>
            <a:pPr lvl="1"/>
            <a:r>
              <a:rPr lang="zh-CN" altLang="en-US" dirty="0" smtClean="0"/>
              <a:t>模拟自动对焦的呼吸效应（</a:t>
            </a:r>
            <a:r>
              <a:rPr lang="en-US" altLang="zh-CN" dirty="0" smtClean="0"/>
              <a:t>Focus Breathing</a:t>
            </a:r>
            <a:r>
              <a:rPr lang="zh-CN" altLang="en-US" dirty="0" smtClean="0"/>
              <a:t>）。</a:t>
            </a:r>
          </a:p>
          <a:p>
            <a:pPr lvl="1"/>
            <a:r>
              <a:rPr lang="zh-CN" altLang="en-US" dirty="0" smtClean="0"/>
              <a:t>镜头的物理瑕疵（</a:t>
            </a:r>
            <a:r>
              <a:rPr lang="en-US" altLang="zh-CN" dirty="0" smtClean="0"/>
              <a:t>Lens Imperfections</a:t>
            </a:r>
            <a:r>
              <a:rPr lang="zh-CN" altLang="en-US" dirty="0" smtClean="0"/>
              <a:t>）。</a:t>
            </a:r>
          </a:p>
          <a:p>
            <a:r>
              <a:rPr lang="zh-CN" altLang="en-US" b="1" dirty="0" smtClean="0"/>
              <a:t>“虚拟摄影”的视角</a:t>
            </a:r>
            <a:r>
              <a:rPr lang="zh-CN" altLang="en-US" dirty="0" smtClean="0"/>
              <a:t>：通过将 </a:t>
            </a:r>
            <a:r>
              <a:rPr lang="en-US" altLang="zh-CN" dirty="0" smtClean="0"/>
              <a:t>3D </a:t>
            </a:r>
            <a:r>
              <a:rPr lang="zh-CN" altLang="en-US" dirty="0" smtClean="0"/>
              <a:t>创作视为“虚拟摄影”（</a:t>
            </a:r>
            <a:r>
              <a:rPr lang="en-US" altLang="zh-CN" dirty="0" smtClean="0"/>
              <a:t>Virtual Photography</a:t>
            </a:r>
            <a:r>
              <a:rPr lang="zh-CN" altLang="en-US" dirty="0" smtClean="0"/>
              <a:t>），你可以更有效地应对客户需求，不再盲目堆砌细节，而是通过更专业的镜头语言来传达艺术感。</a:t>
            </a:r>
          </a:p>
          <a:p>
            <a:r>
              <a:rPr lang="en-US" altLang="zh-CN" b="1" dirty="0" smtClean="0"/>
              <a:t>3. </a:t>
            </a:r>
            <a:r>
              <a:rPr lang="zh-CN" altLang="en-US" b="1" dirty="0" smtClean="0"/>
              <a:t>参考与观察 </a:t>
            </a:r>
            <a:r>
              <a:rPr lang="en-US" altLang="zh-CN" b="1" dirty="0" smtClean="0"/>
              <a:t>(Reference)</a:t>
            </a:r>
          </a:p>
          <a:p>
            <a:r>
              <a:rPr lang="zh-CN" altLang="en-US" b="1" dirty="0" smtClean="0"/>
              <a:t>建立观察力</a:t>
            </a:r>
            <a:r>
              <a:rPr lang="zh-CN" altLang="en-US" dirty="0" smtClean="0"/>
              <a:t>：建立一个良好的审美“眼光”是艺术成长的关键。不仅要看 </a:t>
            </a:r>
            <a:r>
              <a:rPr lang="en-US" altLang="zh-CN" dirty="0" smtClean="0"/>
              <a:t>CG </a:t>
            </a:r>
            <a:r>
              <a:rPr lang="zh-CN" altLang="en-US" dirty="0" smtClean="0"/>
              <a:t>作品，更要多看现实中的摄影作品，理解光影在现实环境中的真实表现。</a:t>
            </a:r>
          </a:p>
          <a:p>
            <a:r>
              <a:rPr lang="zh-CN" altLang="en-US" b="1" dirty="0" smtClean="0"/>
              <a:t>亲自去拍摄</a:t>
            </a:r>
            <a:r>
              <a:rPr lang="zh-CN" altLang="en-US" dirty="0" smtClean="0"/>
              <a:t>：</a:t>
            </a:r>
            <a:r>
              <a:rPr lang="en-US" altLang="zh-CN" dirty="0" smtClean="0"/>
              <a:t>William </a:t>
            </a:r>
            <a:r>
              <a:rPr lang="zh-CN" altLang="en-US" dirty="0" smtClean="0"/>
              <a:t>强烈建议 </a:t>
            </a:r>
            <a:r>
              <a:rPr lang="en-US" altLang="zh-CN" dirty="0" smtClean="0"/>
              <a:t>3D </a:t>
            </a:r>
            <a:r>
              <a:rPr lang="zh-CN" altLang="en-US" dirty="0" smtClean="0"/>
              <a:t>艺术家回到现实中去拿起真实的相机拍摄。这种“ </a:t>
            </a:r>
            <a:r>
              <a:rPr lang="en-US" altLang="zh-CN" dirty="0" smtClean="0"/>
              <a:t>symbiotic relationship”</a:t>
            </a:r>
            <a:r>
              <a:rPr lang="zh-CN" altLang="en-US" dirty="0" smtClean="0"/>
              <a:t>（共生关系）能让你在回到电脑前调整参数时，拥有完全不同的理解深度。</a:t>
            </a:r>
          </a:p>
          <a:p>
            <a:r>
              <a:rPr lang="en-US" altLang="zh-CN" b="1" dirty="0" smtClean="0"/>
              <a:t>4. </a:t>
            </a:r>
            <a:r>
              <a:rPr lang="zh-CN" altLang="en-US" b="1" dirty="0" smtClean="0"/>
              <a:t>艺术创作的协同效应</a:t>
            </a:r>
          </a:p>
          <a:p>
            <a:r>
              <a:rPr lang="zh-CN" altLang="en-US" b="1" dirty="0" smtClean="0"/>
              <a:t>从现实获取素材</a:t>
            </a:r>
            <a:r>
              <a:rPr lang="zh-CN" altLang="en-US" dirty="0" smtClean="0"/>
              <a:t>：熟练运用相机后，你还可以通过实地拍摄来创建专属的纹理、高清 </a:t>
            </a:r>
            <a:r>
              <a:rPr lang="en-US" altLang="zh-CN" dirty="0" smtClean="0"/>
              <a:t>HDR </a:t>
            </a:r>
            <a:r>
              <a:rPr lang="zh-CN" altLang="en-US" dirty="0" smtClean="0"/>
              <a:t>球体，甚至利用摄影测量技术（</a:t>
            </a:r>
            <a:r>
              <a:rPr lang="en-US" altLang="zh-CN" dirty="0" err="1" smtClean="0"/>
              <a:t>Photogrammetry</a:t>
            </a:r>
            <a:r>
              <a:rPr lang="zh-CN" altLang="en-US" dirty="0" smtClean="0"/>
              <a:t>）来辅助 </a:t>
            </a:r>
            <a:r>
              <a:rPr lang="en-US" altLang="zh-CN" dirty="0" smtClean="0"/>
              <a:t>3D </a:t>
            </a:r>
            <a:r>
              <a:rPr lang="zh-CN" altLang="en-US" dirty="0" smtClean="0"/>
              <a:t>场景制作，从而让你的作品具有独特性和不可替代性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How to Add Camera Shake in Unreal Engine</a:t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altLang="zh-CN" b="1" dirty="0" smtClean="0"/>
              <a:t>1. </a:t>
            </a:r>
            <a:r>
              <a:rPr lang="zh-CN" altLang="en-US" b="1" dirty="0" smtClean="0"/>
              <a:t>为什么要使用程序化抖动？</a:t>
            </a:r>
          </a:p>
          <a:p>
            <a:r>
              <a:rPr lang="zh-CN" altLang="en-US" b="1" dirty="0" smtClean="0"/>
              <a:t>灵活性与随机性</a:t>
            </a:r>
            <a:r>
              <a:rPr lang="zh-CN" altLang="en-US" dirty="0" smtClean="0"/>
              <a:t>：使用程序化生成的抖动（</a:t>
            </a:r>
            <a:r>
              <a:rPr lang="en-US" altLang="zh-CN" dirty="0" smtClean="0"/>
              <a:t>Camera Shake Blueprint</a:t>
            </a:r>
            <a:r>
              <a:rPr lang="zh-CN" altLang="en-US" dirty="0" smtClean="0"/>
              <a:t>）比手动制作关键帧动画更自然、更真实，且不会产生重复感，非常适合模拟手持拍摄或环境震动。</a:t>
            </a:r>
          </a:p>
          <a:p>
            <a:r>
              <a:rPr lang="en-US" altLang="zh-CN" b="1" dirty="0" smtClean="0"/>
              <a:t>2. </a:t>
            </a:r>
            <a:r>
              <a:rPr lang="zh-CN" altLang="en-US" b="1" dirty="0" smtClean="0"/>
              <a:t>核心操作步骤</a:t>
            </a:r>
          </a:p>
          <a:p>
            <a:r>
              <a:rPr lang="zh-CN" altLang="en-US" b="1" dirty="0" smtClean="0"/>
              <a:t>创建蓝图类</a:t>
            </a:r>
            <a:r>
              <a:rPr lang="zh-CN" altLang="en-US" dirty="0" smtClean="0"/>
              <a:t>：在内容浏览器中右键，选择 </a:t>
            </a:r>
            <a:r>
              <a:rPr lang="en-US" altLang="zh-CN" dirty="0" smtClean="0"/>
              <a:t>Blueprint Class</a:t>
            </a:r>
            <a:r>
              <a:rPr lang="zh-CN" altLang="en-US" dirty="0" smtClean="0"/>
              <a:t>，并在搜索栏输入 </a:t>
            </a:r>
            <a:r>
              <a:rPr lang="en-US" altLang="zh-CN" dirty="0" err="1" smtClean="0"/>
              <a:t>CameraShakeBase</a:t>
            </a:r>
            <a:r>
              <a:rPr lang="zh-CN" altLang="en-US" dirty="0" smtClean="0"/>
              <a:t>（</a:t>
            </a:r>
            <a:r>
              <a:rPr lang="en-US" altLang="zh-CN" dirty="0" smtClean="0"/>
              <a:t>UE5</a:t>
            </a:r>
            <a:r>
              <a:rPr lang="zh-CN" altLang="en-US" dirty="0" smtClean="0"/>
              <a:t>）或 </a:t>
            </a:r>
            <a:r>
              <a:rPr lang="en-US" altLang="zh-CN" dirty="0" err="1" smtClean="0"/>
              <a:t>MatineeCameraShake</a:t>
            </a:r>
            <a:r>
              <a:rPr lang="zh-CN" altLang="en-US" dirty="0" smtClean="0"/>
              <a:t>（</a:t>
            </a:r>
            <a:r>
              <a:rPr lang="en-US" altLang="zh-CN" dirty="0" smtClean="0"/>
              <a:t>UE4/</a:t>
            </a:r>
            <a:r>
              <a:rPr lang="zh-CN" altLang="en-US" dirty="0" smtClean="0"/>
              <a:t>旧版本）来创建一个相机抖动蓝图。</a:t>
            </a:r>
          </a:p>
          <a:p>
            <a:r>
              <a:rPr lang="zh-CN" altLang="en-US" b="1" dirty="0" smtClean="0"/>
              <a:t>设置参数</a:t>
            </a:r>
            <a:r>
              <a:rPr lang="zh-CN" altLang="en-US" dirty="0" smtClean="0"/>
              <a:t>：</a:t>
            </a:r>
          </a:p>
          <a:p>
            <a:pPr lvl="1"/>
            <a:r>
              <a:rPr lang="en-US" altLang="zh-CN" b="1" dirty="0" smtClean="0"/>
              <a:t>Oscillation</a:t>
            </a:r>
            <a:r>
              <a:rPr lang="zh-CN" altLang="en-US" b="1" dirty="0" smtClean="0"/>
              <a:t>（振荡）设置</a:t>
            </a:r>
            <a:r>
              <a:rPr lang="zh-CN" altLang="en-US" dirty="0" smtClean="0"/>
              <a:t>：在蓝图中，你可以分别控制 </a:t>
            </a:r>
            <a:r>
              <a:rPr lang="en-US" altLang="zh-CN" b="1" dirty="0" smtClean="0"/>
              <a:t>Pitch</a:t>
            </a:r>
            <a:r>
              <a:rPr lang="zh-CN" altLang="en-US" b="1" dirty="0" smtClean="0"/>
              <a:t>（俯仰）、</a:t>
            </a:r>
            <a:r>
              <a:rPr lang="en-US" altLang="zh-CN" b="1" dirty="0" smtClean="0"/>
              <a:t>Yaw</a:t>
            </a:r>
            <a:r>
              <a:rPr lang="zh-CN" altLang="en-US" b="1" dirty="0" smtClean="0"/>
              <a:t>（偏航）、</a:t>
            </a:r>
            <a:r>
              <a:rPr lang="en-US" altLang="zh-CN" b="1" dirty="0" smtClean="0"/>
              <a:t>Roll</a:t>
            </a:r>
            <a:r>
              <a:rPr lang="zh-CN" altLang="en-US" b="1" dirty="0" smtClean="0"/>
              <a:t>（横滚）</a:t>
            </a:r>
            <a:r>
              <a:rPr lang="zh-CN" altLang="en-US" dirty="0" smtClean="0"/>
              <a:t> 和 </a:t>
            </a:r>
            <a:r>
              <a:rPr lang="en-US" altLang="zh-CN" b="1" dirty="0" smtClean="0"/>
              <a:t>Location</a:t>
            </a:r>
            <a:r>
              <a:rPr lang="zh-CN" altLang="en-US" b="1" dirty="0" smtClean="0"/>
              <a:t>（位移）</a:t>
            </a:r>
            <a:r>
              <a:rPr lang="zh-CN" altLang="en-US" dirty="0" smtClean="0"/>
              <a:t>。</a:t>
            </a:r>
          </a:p>
          <a:p>
            <a:pPr lvl="1"/>
            <a:r>
              <a:rPr lang="zh-CN" altLang="en-US" b="1" dirty="0" smtClean="0"/>
              <a:t>参数调整</a:t>
            </a:r>
            <a:r>
              <a:rPr lang="zh-CN" altLang="en-US" dirty="0" smtClean="0"/>
              <a:t>：通过调节 </a:t>
            </a:r>
            <a:r>
              <a:rPr lang="en-US" altLang="zh-CN" dirty="0" smtClean="0"/>
              <a:t>Amplitude</a:t>
            </a:r>
            <a:r>
              <a:rPr lang="zh-CN" altLang="en-US" dirty="0" smtClean="0"/>
              <a:t>（幅度，抖动的强度）和 </a:t>
            </a:r>
            <a:r>
              <a:rPr lang="en-US" altLang="zh-CN" dirty="0" smtClean="0"/>
              <a:t>Frequency</a:t>
            </a:r>
            <a:r>
              <a:rPr lang="zh-CN" altLang="en-US" dirty="0" smtClean="0"/>
              <a:t>（频率，抖动的快慢）来定义你想要的抖动风格。例如，较慢的频率配合较大的幅度适合模拟大型震动（如地震），较快的频率配合较小的幅度适合模拟轻微手持感。</a:t>
            </a:r>
          </a:p>
          <a:p>
            <a:r>
              <a:rPr lang="zh-CN" altLang="en-US" b="1" dirty="0" smtClean="0"/>
              <a:t>调用抖动</a:t>
            </a:r>
            <a:r>
              <a:rPr lang="zh-CN" altLang="en-US" dirty="0" smtClean="0"/>
              <a:t>：在你的 </a:t>
            </a:r>
            <a:r>
              <a:rPr lang="en-US" altLang="zh-CN" dirty="0" smtClean="0"/>
              <a:t>Level Sequence </a:t>
            </a:r>
            <a:r>
              <a:rPr lang="zh-CN" altLang="en-US" dirty="0" smtClean="0"/>
              <a:t>或其他蓝图逻辑中，使用 </a:t>
            </a:r>
            <a:r>
              <a:rPr lang="en-US" altLang="zh-CN" dirty="0" smtClean="0"/>
              <a:t>Client Start Camera Shake </a:t>
            </a:r>
            <a:r>
              <a:rPr lang="zh-CN" altLang="en-US" dirty="0" smtClean="0"/>
              <a:t>节点来触发这个蓝图。</a:t>
            </a:r>
          </a:p>
          <a:p>
            <a:r>
              <a:rPr lang="en-US" altLang="zh-CN" b="1" dirty="0" smtClean="0"/>
              <a:t>3. </a:t>
            </a:r>
            <a:r>
              <a:rPr lang="zh-CN" altLang="en-US" b="1" dirty="0" smtClean="0"/>
              <a:t>常见问题提示</a:t>
            </a:r>
          </a:p>
          <a:p>
            <a:r>
              <a:rPr lang="zh-CN" altLang="en-US" b="1" dirty="0" smtClean="0"/>
              <a:t>蓝图显示差异</a:t>
            </a:r>
            <a:r>
              <a:rPr lang="zh-CN" altLang="en-US" dirty="0" smtClean="0"/>
              <a:t>：视频评论区和教程中提到，如果你打开蓝图发现它显得非常“简约”且没有可见的逻辑节点，是因为它处于“</a:t>
            </a:r>
            <a:r>
              <a:rPr lang="en-US" altLang="zh-CN" dirty="0" smtClean="0"/>
              <a:t>Data-only”</a:t>
            </a:r>
            <a:r>
              <a:rPr lang="zh-CN" altLang="en-US" dirty="0" smtClean="0"/>
              <a:t>模式。你可以通过点击顶部工具栏的 </a:t>
            </a:r>
            <a:r>
              <a:rPr lang="en-US" altLang="zh-CN" b="1" dirty="0" smtClean="0"/>
              <a:t>"Open Full Blueprint Editor"</a:t>
            </a:r>
            <a:r>
              <a:rPr lang="zh-CN" altLang="en-US" dirty="0" smtClean="0"/>
              <a:t> 来进入完整编辑界面。</a:t>
            </a:r>
          </a:p>
          <a:p>
            <a:r>
              <a:rPr lang="zh-CN" altLang="en-US" b="1" dirty="0" smtClean="0"/>
              <a:t>实用技巧</a:t>
            </a:r>
            <a:r>
              <a:rPr lang="zh-CN" altLang="en-US" dirty="0" smtClean="0"/>
              <a:t>：</a:t>
            </a:r>
          </a:p>
          <a:p>
            <a:pPr lvl="1"/>
            <a:r>
              <a:rPr lang="en-US" altLang="zh-CN" b="1" dirty="0" smtClean="0"/>
              <a:t>Pitch</a:t>
            </a:r>
            <a:r>
              <a:rPr lang="zh-CN" altLang="en-US" dirty="0" smtClean="0"/>
              <a:t> 对应上下移动，</a:t>
            </a:r>
            <a:r>
              <a:rPr lang="en-US" altLang="zh-CN" b="1" dirty="0" smtClean="0"/>
              <a:t>Yaw</a:t>
            </a:r>
            <a:r>
              <a:rPr lang="zh-CN" altLang="en-US" dirty="0" smtClean="0"/>
              <a:t> 对应左右摆动，</a:t>
            </a:r>
            <a:r>
              <a:rPr lang="en-US" altLang="zh-CN" b="1" dirty="0" smtClean="0"/>
              <a:t>Roll</a:t>
            </a:r>
            <a:r>
              <a:rPr lang="zh-CN" altLang="en-US" dirty="0" smtClean="0"/>
              <a:t> 对应旋转摇晃。</a:t>
            </a:r>
          </a:p>
          <a:p>
            <a:pPr lvl="1"/>
            <a:r>
              <a:rPr lang="zh-CN" altLang="en-US" dirty="0" smtClean="0"/>
              <a:t>如果你是做电影渲染，这种程序化抖动能极大地增加画面的“有机感”（</a:t>
            </a:r>
            <a:r>
              <a:rPr lang="en-US" altLang="zh-CN" dirty="0" smtClean="0"/>
              <a:t>Organic feel</a:t>
            </a:r>
            <a:r>
              <a:rPr lang="zh-CN" altLang="en-US" dirty="0" smtClean="0"/>
              <a:t>），让 </a:t>
            </a:r>
            <a:r>
              <a:rPr lang="en-US" altLang="zh-CN" dirty="0" smtClean="0"/>
              <a:t>CG </a:t>
            </a:r>
            <a:r>
              <a:rPr lang="zh-CN" altLang="en-US" dirty="0" smtClean="0"/>
              <a:t>画面看起来更像真实摄像机拍摄。</a:t>
            </a:r>
          </a:p>
          <a:p>
            <a:r>
              <a:rPr lang="zh-CN" altLang="en-US" dirty="0" smtClean="0"/>
              <a:t>这个视频非常适合那些想要提升场景“真实物理感”，但又不想逐帧制作手持摄像机动画的创作者。如果你在 </a:t>
            </a:r>
            <a:r>
              <a:rPr lang="en-US" altLang="zh-CN" dirty="0" smtClean="0"/>
              <a:t>UE </a:t>
            </a:r>
            <a:r>
              <a:rPr lang="zh-CN" altLang="en-US" dirty="0" smtClean="0"/>
              <a:t>中处理电影感镜头，这是一种非常高效的工作流。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This Will Improve Your Depth of Field Quality Forever – Unreal Engine </a:t>
            </a:r>
            <a:r>
              <a:rPr lang="en-US" b="1" dirty="0" err="1" smtClean="0"/>
              <a:t>Cinematics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zh-CN" altLang="en-US" dirty="0" smtClean="0"/>
              <a:t>这段视频主要介绍了一种通过控制台命令（</a:t>
            </a:r>
            <a:r>
              <a:rPr lang="en-US" altLang="zh-CN" dirty="0" smtClean="0"/>
              <a:t>Console Command</a:t>
            </a:r>
            <a:r>
              <a:rPr lang="zh-CN" altLang="en-US" dirty="0" smtClean="0"/>
              <a:t>）来修复虚幻引擎（</a:t>
            </a:r>
            <a:r>
              <a:rPr lang="en-US" altLang="zh-CN" dirty="0" smtClean="0"/>
              <a:t>UE4</a:t>
            </a:r>
            <a:r>
              <a:rPr lang="zh-CN" altLang="en-US" dirty="0" smtClean="0"/>
              <a:t>）默认景深（</a:t>
            </a:r>
            <a:r>
              <a:rPr lang="en-US" altLang="zh-CN" dirty="0" smtClean="0"/>
              <a:t>Depth of Field, </a:t>
            </a:r>
            <a:r>
              <a:rPr lang="en-US" altLang="zh-CN" dirty="0" err="1" smtClean="0"/>
              <a:t>DoF</a:t>
            </a:r>
            <a:r>
              <a:rPr lang="zh-CN" altLang="en-US" dirty="0" smtClean="0"/>
              <a:t>）质量差、产生伪影的方法。以下是该手法及关键内容总结：</a:t>
            </a:r>
          </a:p>
          <a:p>
            <a:r>
              <a:rPr lang="en-US" altLang="zh-CN" b="1" dirty="0" smtClean="0"/>
              <a:t>1. </a:t>
            </a:r>
            <a:r>
              <a:rPr lang="zh-CN" altLang="en-US" b="1" dirty="0" smtClean="0"/>
              <a:t>核心问题：默认景深的缺陷</a:t>
            </a:r>
          </a:p>
          <a:p>
            <a:r>
              <a:rPr lang="zh-CN" altLang="en-US" dirty="0" smtClean="0"/>
              <a:t>虚幻引擎默认的景深计算在某些情况下（特别是与 </a:t>
            </a:r>
            <a:r>
              <a:rPr lang="en-US" altLang="zh-CN" dirty="0" smtClean="0"/>
              <a:t>Temporal AA </a:t>
            </a:r>
            <a:r>
              <a:rPr lang="zh-CN" altLang="en-US" dirty="0" smtClean="0"/>
              <a:t>等时间抗锯齿技术叠加时）会产生视觉伪影，导致原本应该是平滑的离焦（</a:t>
            </a:r>
            <a:r>
              <a:rPr lang="en-US" altLang="zh-CN" dirty="0" err="1" smtClean="0"/>
              <a:t>Bokeh</a:t>
            </a:r>
            <a:r>
              <a:rPr lang="zh-CN" altLang="en-US" dirty="0" smtClean="0"/>
              <a:t>）效果显得杂乱、有噪点，甚至出现锯齿。</a:t>
            </a:r>
          </a:p>
          <a:p>
            <a:r>
              <a:rPr lang="en-US" altLang="zh-CN" b="1" dirty="0" smtClean="0"/>
              <a:t>2. </a:t>
            </a:r>
            <a:r>
              <a:rPr lang="zh-CN" altLang="en-US" b="1" dirty="0" smtClean="0"/>
              <a:t>解决方法：控制台命令</a:t>
            </a:r>
          </a:p>
          <a:p>
            <a:r>
              <a:rPr lang="zh-CN" altLang="en-US" dirty="0" smtClean="0"/>
              <a:t>视频建议通过输入特定的控制台命令来禁用或改变渲染方式，从而获得更纯净的景深效果。</a:t>
            </a:r>
          </a:p>
          <a:p>
            <a:r>
              <a:rPr lang="zh-CN" altLang="en-US" b="1" dirty="0" smtClean="0"/>
              <a:t>关键命令</a:t>
            </a:r>
            <a:r>
              <a:rPr lang="zh-CN" altLang="en-US" dirty="0" smtClean="0"/>
              <a:t>：在控制台输入 </a:t>
            </a:r>
            <a:r>
              <a:rPr lang="en-US" altLang="zh-CN" dirty="0" err="1" smtClean="0"/>
              <a:t>r.TemporalAA.Upsampling</a:t>
            </a:r>
            <a:r>
              <a:rPr lang="en-US" altLang="zh-CN" dirty="0" smtClean="0"/>
              <a:t> 0</a:t>
            </a:r>
            <a:r>
              <a:rPr lang="zh-CN" altLang="en-US" dirty="0" smtClean="0"/>
              <a:t>（或其他类似相关变量）。</a:t>
            </a:r>
          </a:p>
          <a:p>
            <a:r>
              <a:rPr lang="zh-CN" altLang="en-US" b="1" dirty="0" smtClean="0"/>
              <a:t>效果对比</a:t>
            </a:r>
            <a:r>
              <a:rPr lang="zh-CN" altLang="en-US" dirty="0" smtClean="0"/>
              <a:t>：关闭该设置后，离焦区域的 </a:t>
            </a:r>
            <a:r>
              <a:rPr lang="en-US" altLang="zh-CN" dirty="0" err="1" smtClean="0"/>
              <a:t>Bokeh</a:t>
            </a:r>
            <a:r>
              <a:rPr lang="en-US" altLang="zh-CN" dirty="0" smtClean="0"/>
              <a:t> </a:t>
            </a:r>
            <a:r>
              <a:rPr lang="zh-CN" altLang="en-US" dirty="0" smtClean="0"/>
              <a:t>形状会变得更加圆润、清晰，且更符合真实物理摄影的虚化质感，极大提升了渲染的真实电影感。</a:t>
            </a:r>
          </a:p>
          <a:p>
            <a:r>
              <a:rPr lang="en-US" altLang="zh-CN" b="1" dirty="0" smtClean="0"/>
              <a:t>3. </a:t>
            </a:r>
            <a:r>
              <a:rPr lang="zh-CN" altLang="en-US" b="1" dirty="0" smtClean="0"/>
              <a:t>视频作者的重要提示</a:t>
            </a:r>
          </a:p>
          <a:p>
            <a:r>
              <a:rPr lang="zh-CN" altLang="en-US" b="1" dirty="0" smtClean="0"/>
              <a:t>版本差异</a:t>
            </a:r>
            <a:r>
              <a:rPr lang="zh-CN" altLang="en-US" dirty="0" smtClean="0"/>
              <a:t>：视频明确声明该教程针对的是较旧版本的引擎。从 </a:t>
            </a:r>
            <a:r>
              <a:rPr lang="en-US" altLang="zh-CN" dirty="0" smtClean="0"/>
              <a:t>UE 4.27 </a:t>
            </a:r>
            <a:r>
              <a:rPr lang="zh-CN" altLang="en-US" dirty="0" smtClean="0"/>
              <a:t>及后续版本（包括 </a:t>
            </a:r>
            <a:r>
              <a:rPr lang="en-US" altLang="zh-CN" dirty="0" smtClean="0"/>
              <a:t>UE5</a:t>
            </a:r>
            <a:r>
              <a:rPr lang="zh-CN" altLang="en-US" dirty="0" smtClean="0"/>
              <a:t>）开始，</a:t>
            </a:r>
            <a:r>
              <a:rPr lang="en-US" altLang="zh-CN" dirty="0" smtClean="0"/>
              <a:t>Epic Games </a:t>
            </a:r>
            <a:r>
              <a:rPr lang="zh-CN" altLang="en-US" dirty="0" smtClean="0"/>
              <a:t>似乎已经优化并解决了这个问题，因此在新版本中可能不再需要进行此操作。</a:t>
            </a:r>
          </a:p>
          <a:p>
            <a:r>
              <a:rPr lang="zh-CN" altLang="en-US" b="1" dirty="0" smtClean="0"/>
              <a:t>模板预设</a:t>
            </a:r>
            <a:r>
              <a:rPr lang="zh-CN" altLang="en-US" dirty="0" smtClean="0"/>
              <a:t>：作者在置顶评论中提到，部分项目模板（如“</a:t>
            </a:r>
            <a:r>
              <a:rPr lang="en-US" altLang="zh-CN" dirty="0" smtClean="0"/>
              <a:t>Film”</a:t>
            </a:r>
            <a:r>
              <a:rPr lang="zh-CN" altLang="en-US" dirty="0" smtClean="0"/>
              <a:t>预设）可能已经默认开启了相关优化，不需要额外设置。</a:t>
            </a:r>
          </a:p>
          <a:p>
            <a:r>
              <a:rPr lang="zh-CN" altLang="en-US" b="1" dirty="0" smtClean="0"/>
              <a:t>总结建议</a:t>
            </a:r>
          </a:p>
          <a:p>
            <a:r>
              <a:rPr lang="zh-CN" altLang="en-US" dirty="0" smtClean="0"/>
              <a:t>这个手法在处理早期虚幻引擎项目时是“电影感”提升的必杀技，它不仅改善了景深质量，还对渲染整体的通透感有显著提升。如果您目前使用的是较新的 </a:t>
            </a:r>
            <a:r>
              <a:rPr lang="en-US" altLang="zh-CN" dirty="0" smtClean="0"/>
              <a:t>UE5 </a:t>
            </a:r>
            <a:r>
              <a:rPr lang="zh-CN" altLang="en-US" dirty="0" smtClean="0"/>
              <a:t>版本，建议先观察景深表现，若效果符合预期则无需盲目修改；但如果发现离焦区域有类似“马赛克”或“噪点”的伪影，可以尝试检查该控制台变量。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1747</Words>
  <PresentationFormat>全屏显示(4:3)</PresentationFormat>
  <Paragraphs>64</Paragraphs>
  <Slides>11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2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 One small change to LEVEL UP your 3D Art. </vt:lpstr>
      <vt:lpstr>How to Add Camera Shake in Unreal Engine  </vt:lpstr>
      <vt:lpstr>This Will Improve Your Depth of Field Quality Forever – Unreal Engine Cinematics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</dc:creator>
  <cp:lastModifiedBy>admin</cp:lastModifiedBy>
  <cp:revision>16</cp:revision>
  <dcterms:created xsi:type="dcterms:W3CDTF">2026-07-16T12:59:10Z</dcterms:created>
  <dcterms:modified xsi:type="dcterms:W3CDTF">2026-07-16T15:28:41Z</dcterms:modified>
</cp:coreProperties>
</file>