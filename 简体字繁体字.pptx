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97" d="100"/>
          <a:sy n="97" d="100"/>
        </p:scale>
        <p:origin x="-1470" y="-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2026/4/5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簡体字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34" y="1214422"/>
            <a:ext cx="8229600" cy="4525963"/>
          </a:xfrm>
        </p:spPr>
        <p:txBody>
          <a:bodyPr>
            <a:normAutofit/>
          </a:bodyPr>
          <a:lstStyle/>
          <a:p>
            <a:r>
              <a:rPr lang="ja-JP" altLang="en-US" sz="1200" b="1" dirty="0" smtClean="0"/>
              <a:t>発音記号によるインデックス </a:t>
            </a:r>
            <a:r>
              <a:rPr lang="en-US" altLang="ja-JP" sz="1200" b="1" dirty="0" smtClean="0"/>
              <a:t>(Phonetic Indexing)</a:t>
            </a:r>
          </a:p>
          <a:p>
            <a:r>
              <a:rPr lang="en-US" altLang="ja-JP" sz="1200" b="1" dirty="0" smtClean="0"/>
              <a:t>1.1 </a:t>
            </a:r>
            <a:r>
              <a:rPr lang="ja-JP" altLang="en-US" sz="1200" b="1" dirty="0" smtClean="0"/>
              <a:t>簡体字：ピンイン検索 </a:t>
            </a:r>
            <a:r>
              <a:rPr lang="en-US" altLang="ja-JP" sz="1200" b="1" dirty="0" smtClean="0"/>
              <a:t>(Pinyin A-Z)</a:t>
            </a:r>
            <a:endParaRPr lang="ja-JP" altLang="en-US" sz="1200" dirty="0" smtClean="0"/>
          </a:p>
          <a:p>
            <a:pPr lvl="1"/>
            <a:r>
              <a:rPr lang="ja-JP" altLang="en-US" sz="1200" dirty="0" smtClean="0"/>
              <a:t>ロジック：漢字の読み（ピンイン）の頭文字による </a:t>
            </a:r>
            <a:r>
              <a:rPr lang="en-US" altLang="ja-JP" sz="1200" dirty="0" smtClean="0"/>
              <a:t>A-Z </a:t>
            </a:r>
            <a:r>
              <a:rPr lang="ja-JP" altLang="en-US" sz="1200" dirty="0" smtClean="0"/>
              <a:t>ソート。</a:t>
            </a:r>
          </a:p>
          <a:p>
            <a:endParaRPr lang="en-US" altLang="ja-JP" sz="1200" b="1" dirty="0" smtClean="0"/>
          </a:p>
          <a:p>
            <a:r>
              <a:rPr lang="ja-JP" altLang="en-US" sz="1200" b="1" dirty="0" smtClean="0"/>
              <a:t>ゲーム事例：</a:t>
            </a:r>
            <a:r>
              <a:rPr lang="en-US" altLang="ja-JP" sz="1200" b="1" dirty="0" smtClean="0"/>
              <a:t>『</a:t>
            </a:r>
            <a:r>
              <a:rPr lang="ja-JP" altLang="en-US" sz="1200" b="1" dirty="0" smtClean="0"/>
              <a:t>リーグ・オブ・レジェンド</a:t>
            </a:r>
            <a:r>
              <a:rPr lang="en-US" altLang="ja-JP" sz="1200" b="1" dirty="0" smtClean="0"/>
              <a:t>』(legends of legends)</a:t>
            </a:r>
            <a:endParaRPr lang="ja-JP" altLang="en-US" sz="1200" dirty="0" smtClean="0"/>
          </a:p>
          <a:p>
            <a:pPr lvl="1"/>
            <a:r>
              <a:rPr lang="ja-JP" altLang="en-US" sz="1200" dirty="0" smtClean="0"/>
              <a:t>キャラクタ</a:t>
            </a:r>
            <a:r>
              <a:rPr lang="ja-JP" altLang="en-US" sz="1200" dirty="0" smtClean="0"/>
              <a:t>ー図鑑やアイテムバッグでのソート</a:t>
            </a:r>
            <a:r>
              <a:rPr lang="ja-JP" altLang="en-US" sz="1200" dirty="0" smtClean="0"/>
              <a:t>。</a:t>
            </a:r>
            <a:endParaRPr lang="en-US" altLang="ja-JP" sz="1200" dirty="0" smtClean="0"/>
          </a:p>
          <a:p>
            <a:pPr lvl="1"/>
            <a:r>
              <a:rPr lang="ja-JP" altLang="en-US" sz="1200" dirty="0" smtClean="0"/>
              <a:t>簡</a:t>
            </a:r>
            <a:r>
              <a:rPr lang="ja-JP" altLang="en-US" sz="1200" dirty="0" smtClean="0"/>
              <a:t>体字版</a:t>
            </a:r>
            <a:r>
              <a:rPr lang="ja-JP" altLang="en-US" sz="1200" dirty="0" smtClean="0"/>
              <a:t>ではアルファベット順</a:t>
            </a:r>
            <a:endParaRPr lang="en-US" altLang="ja-JP" sz="1200" dirty="0" smtClean="0"/>
          </a:p>
          <a:p>
            <a:pPr lvl="1">
              <a:buNone/>
            </a:pPr>
            <a:r>
              <a:rPr lang="ja-JP" altLang="en-US" sz="1200" dirty="0" smtClean="0"/>
              <a:t>例：</a:t>
            </a:r>
            <a:endParaRPr lang="en-US" altLang="ja-JP" sz="1200" dirty="0" smtClean="0"/>
          </a:p>
          <a:p>
            <a:pPr lvl="1"/>
            <a:r>
              <a:rPr lang="en-US" altLang="zh-CN" sz="1200" b="1" dirty="0" smtClean="0"/>
              <a:t>H</a:t>
            </a:r>
            <a:r>
              <a:rPr lang="en-US" altLang="ja-JP" sz="1200" dirty="0" smtClean="0"/>
              <a:t>-</a:t>
            </a:r>
            <a:r>
              <a:rPr lang="en-US" altLang="zh-CN" sz="1200" dirty="0" err="1" smtClean="0"/>
              <a:t>hazn</a:t>
            </a:r>
            <a:r>
              <a:rPr lang="en-US" altLang="ja-JP" sz="1200" dirty="0" smtClean="0"/>
              <a:t>/</a:t>
            </a:r>
            <a:r>
              <a:rPr lang="zh-CN" altLang="en-US" sz="1200" dirty="0" smtClean="0"/>
              <a:t>黑暗之女</a:t>
            </a:r>
            <a:r>
              <a:rPr lang="en-US" altLang="zh-CN" sz="1200" dirty="0" smtClean="0"/>
              <a:t>/</a:t>
            </a:r>
            <a:r>
              <a:rPr lang="en-US" altLang="zh-CN" sz="1200" dirty="0" err="1" smtClean="0"/>
              <a:t>HeiAnZhiNv</a:t>
            </a:r>
            <a:endParaRPr lang="en-US" altLang="zh-CN" sz="1200" dirty="0" smtClean="0"/>
          </a:p>
          <a:p>
            <a:pPr lvl="1">
              <a:buNone/>
            </a:pPr>
            <a:r>
              <a:rPr lang="en-US" altLang="zh-CN" sz="1200" b="1" dirty="0" smtClean="0"/>
              <a:t>K</a:t>
            </a:r>
            <a:r>
              <a:rPr lang="en-US" altLang="ja-JP" sz="1200" dirty="0" smtClean="0"/>
              <a:t>-</a:t>
            </a:r>
            <a:r>
              <a:rPr lang="en-US" altLang="zh-CN" sz="1200" dirty="0" err="1" smtClean="0"/>
              <a:t>kzs</a:t>
            </a:r>
            <a:r>
              <a:rPr lang="en-US" altLang="ja-JP" sz="1200" dirty="0" smtClean="0"/>
              <a:t>/</a:t>
            </a:r>
            <a:r>
              <a:rPr lang="zh-CN" altLang="en-US" sz="1200" dirty="0" smtClean="0"/>
              <a:t>狂战士</a:t>
            </a:r>
            <a:r>
              <a:rPr lang="en-US" altLang="zh-CN" sz="1200" dirty="0" smtClean="0"/>
              <a:t>/</a:t>
            </a:r>
            <a:r>
              <a:rPr lang="en-US" altLang="zh-CN" sz="1200" dirty="0" err="1" smtClean="0"/>
              <a:t>KuangZhanShi</a:t>
            </a:r>
            <a:endParaRPr lang="en-US" altLang="zh-CN" sz="1200" dirty="0" smtClean="0"/>
          </a:p>
          <a:p>
            <a:pPr lvl="1">
              <a:buNone/>
            </a:pPr>
            <a:r>
              <a:rPr lang="en-US" altLang="ja-JP" sz="1200" b="1" dirty="0" smtClean="0"/>
              <a:t>Z</a:t>
            </a:r>
            <a:r>
              <a:rPr lang="en-US" altLang="ja-JP" sz="1200" dirty="0" smtClean="0"/>
              <a:t>-</a:t>
            </a:r>
            <a:r>
              <a:rPr lang="en-US" altLang="zh-CN" sz="1200" dirty="0" err="1" smtClean="0"/>
              <a:t>zyjx</a:t>
            </a:r>
            <a:r>
              <a:rPr lang="en-US" altLang="zh-CN" sz="1200" dirty="0" smtClean="0"/>
              <a:t>/</a:t>
            </a:r>
            <a:r>
              <a:rPr lang="zh-CN" altLang="en-US" sz="1200" dirty="0" smtClean="0"/>
              <a:t>正义巨像</a:t>
            </a:r>
            <a:r>
              <a:rPr lang="en-US" altLang="zh-CN" sz="1200" dirty="0" smtClean="0"/>
              <a:t>/</a:t>
            </a:r>
            <a:r>
              <a:rPr lang="en-US" altLang="zh-CN" sz="1200" dirty="0" err="1" smtClean="0"/>
              <a:t>ZhengYiJuXiang</a:t>
            </a:r>
            <a:endParaRPr lang="ja-JP" altLang="en-US" sz="1200" dirty="0"/>
          </a:p>
        </p:txBody>
      </p:sp>
      <p:sp>
        <p:nvSpPr>
          <p:cNvPr id="4" name="矩形 3"/>
          <p:cNvSpPr/>
          <p:nvPr/>
        </p:nvSpPr>
        <p:spPr>
          <a:xfrm>
            <a:off x="928662" y="3643314"/>
            <a:ext cx="2750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https://101.qq.com/#/hero</a:t>
            </a:r>
            <a:endParaRPr lang="zh-CN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4214818"/>
            <a:ext cx="2189112" cy="2262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7554" y="4214818"/>
            <a:ext cx="1621846" cy="2401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72066" y="4214818"/>
            <a:ext cx="1626021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 smtClean="0"/>
              <a:t>繫体字</a:t>
            </a:r>
            <a:r>
              <a:rPr lang="zh-CN" altLang="en-US" dirty="0" smtClean="0"/>
              <a:t>（</a:t>
            </a:r>
            <a:r>
              <a:rPr lang="ja-JP" altLang="en-US" dirty="0" smtClean="0"/>
              <a:t>台湾</a:t>
            </a:r>
            <a:r>
              <a:rPr lang="zh-CN" altLang="en-US" dirty="0" smtClean="0"/>
              <a:t>）</a:t>
            </a:r>
            <a:r>
              <a:rPr lang="zh-CN" altLang="en-US" dirty="0" smtClean="0"/>
              <a:t>：注音符号 </a:t>
            </a:r>
            <a:r>
              <a:rPr lang="en-US" altLang="zh-CN" dirty="0" smtClean="0"/>
              <a:t>(Bopomofo)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1400" dirty="0" smtClean="0"/>
              <a:t>「ㄅㄆㄇㄈ」順。台湾市場において最も直感的な検索方法</a:t>
            </a:r>
            <a:r>
              <a:rPr lang="ja-JP" altLang="en-US" sz="1400" dirty="0" smtClean="0"/>
              <a:t>。</a:t>
            </a:r>
            <a:endParaRPr lang="en-US" altLang="ja-JP" sz="1400" dirty="0" smtClean="0"/>
          </a:p>
          <a:p>
            <a:pPr lvl="1">
              <a:buNone/>
            </a:pPr>
            <a:r>
              <a:rPr lang="ja-JP" altLang="en-US" sz="1400" dirty="0" smtClean="0"/>
              <a:t>台湾</a:t>
            </a:r>
            <a:r>
              <a:rPr lang="ja-JP" altLang="en-US" sz="1400" dirty="0" smtClean="0"/>
              <a:t>注音索引例：</a:t>
            </a:r>
            <a:endParaRPr lang="en-US" altLang="ja-JP" sz="1400" dirty="0" smtClean="0"/>
          </a:p>
          <a:p>
            <a:pPr lvl="1">
              <a:buNone/>
            </a:pPr>
            <a:r>
              <a:rPr lang="ja-JP" altLang="en-US" sz="1400" dirty="0" smtClean="0"/>
              <a:t>好</a:t>
            </a:r>
            <a:r>
              <a:rPr lang="ja-JP" altLang="en-US" sz="1400" dirty="0" smtClean="0"/>
              <a:t>樂</a:t>
            </a:r>
            <a:r>
              <a:rPr lang="ja-JP" altLang="en-US" sz="1400" dirty="0" smtClean="0"/>
              <a:t>迪</a:t>
            </a:r>
            <a:r>
              <a:rPr lang="en-US" altLang="ja-JP" sz="1400" dirty="0" smtClean="0"/>
              <a:t>KTV</a:t>
            </a:r>
          </a:p>
          <a:p>
            <a:pPr lvl="1">
              <a:buNone/>
            </a:pPr>
            <a:r>
              <a:rPr lang="ja-JP" altLang="en-US" sz="1400" dirty="0" smtClean="0"/>
              <a:t>注音（ボポモフォ）による曲名入</a:t>
            </a:r>
            <a:r>
              <a:rPr lang="ja-JP" altLang="en-US" sz="1400" dirty="0" smtClean="0"/>
              <a:t>力</a:t>
            </a:r>
            <a:endParaRPr lang="en-US" altLang="ja-JP" sz="1400" dirty="0" smtClean="0"/>
          </a:p>
          <a:p>
            <a:pPr lvl="1">
              <a:buNone/>
            </a:pPr>
            <a:r>
              <a:rPr lang="ja-JP" altLang="en-US" sz="1400" dirty="0" smtClean="0"/>
              <a:t>注音</a:t>
            </a:r>
            <a:r>
              <a:rPr lang="ja-JP" altLang="en-US" sz="1400" dirty="0" smtClean="0"/>
              <a:t>順のプレイリストソート</a:t>
            </a:r>
            <a:r>
              <a:rPr lang="ja-JP" altLang="en-US" sz="1400" dirty="0" smtClean="0"/>
              <a:t>、</a:t>
            </a:r>
            <a:endParaRPr lang="en-US" altLang="ja-JP" sz="1400" dirty="0" smtClean="0"/>
          </a:p>
          <a:p>
            <a:pPr lvl="1">
              <a:buNone/>
            </a:pPr>
            <a:r>
              <a:rPr lang="ja-JP" altLang="en-US" sz="1400" dirty="0" smtClean="0"/>
              <a:t>およびあいまい</a:t>
            </a:r>
            <a:r>
              <a:rPr lang="ja-JP" altLang="en-US" sz="1400" dirty="0" smtClean="0"/>
              <a:t>検索（ㄅㄚ → 八 </a:t>
            </a:r>
            <a:r>
              <a:rPr lang="en-US" altLang="ja-JP" sz="1400" dirty="0" smtClean="0"/>
              <a:t>/ </a:t>
            </a:r>
            <a:r>
              <a:rPr lang="ja-JP" altLang="en-US" sz="1400" dirty="0" smtClean="0"/>
              <a:t>吧 </a:t>
            </a:r>
            <a:r>
              <a:rPr lang="en-US" altLang="ja-JP" sz="1400" dirty="0" smtClean="0"/>
              <a:t>/ </a:t>
            </a:r>
            <a:r>
              <a:rPr lang="ja-JP" altLang="en-US" sz="1400" dirty="0" smtClean="0"/>
              <a:t>巴）に対応。</a:t>
            </a:r>
            <a:endParaRPr lang="en-US" altLang="ja-JP" sz="1400" dirty="0" smtClean="0"/>
          </a:p>
          <a:p>
            <a:endParaRPr lang="en-US" altLang="ja-JP" sz="1400" dirty="0" smtClean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714348" y="5769767"/>
            <a:ext cx="8229600" cy="2176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ja-JP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3429000"/>
            <a:ext cx="4233843" cy="2115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矩形 6"/>
          <p:cNvSpPr/>
          <p:nvPr/>
        </p:nvSpPr>
        <p:spPr>
          <a:xfrm>
            <a:off x="928662" y="5715016"/>
            <a:ext cx="65722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 smtClean="0"/>
              <a:t>https://youtu.be/eH3YWYgBpQQ?si=iPLJ18BRn8yqctY0&amp;t=169</a:t>
            </a:r>
            <a:endParaRPr lang="zh-CN" altLang="en-US" sz="1400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ほかのインデックス例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214414" y="4727050"/>
            <a:ext cx="4442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https://monsterhunternow.com/zh/monsters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214414" y="2857496"/>
            <a:ext cx="38889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https://sgzzlb.lingxigames.com/station/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214414" y="2428868"/>
            <a:ext cx="62865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https://ys.mihoyo.com/main/character/mondstadt?char=0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214414" y="5143512"/>
            <a:ext cx="3565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https://gallery.tosgame.com/#/filter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214414" y="3286124"/>
            <a:ext cx="57150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https://jx3.xoyo.com/zt/2014/11/21/zt/menpai/lxg.html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214414" y="564357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ja-JP" dirty="0" smtClean="0"/>
              <a:t>https</a:t>
            </a:r>
            <a:r>
              <a:rPr lang="en-US" altLang="ja-JP" dirty="0" smtClean="0"/>
              <a:t>://</a:t>
            </a:r>
            <a:r>
              <a:rPr lang="en-US" altLang="ja-JP" dirty="0" smtClean="0"/>
              <a:t>dict.concised.moe.edu.tw/searchP.jsp</a:t>
            </a:r>
            <a:endParaRPr lang="en-US" altLang="ja-JP" dirty="0" smtClean="0"/>
          </a:p>
        </p:txBody>
      </p:sp>
      <p:sp>
        <p:nvSpPr>
          <p:cNvPr id="11" name="矩形 10"/>
          <p:cNvSpPr/>
          <p:nvPr/>
        </p:nvSpPr>
        <p:spPr>
          <a:xfrm>
            <a:off x="1214414" y="3714752"/>
            <a:ext cx="45840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https://pvp.qq.com/web201605/herolist.shtml</a:t>
            </a:r>
            <a:endParaRPr lang="zh-CN" altLang="en-US" dirty="0"/>
          </a:p>
        </p:txBody>
      </p:sp>
      <p:sp>
        <p:nvSpPr>
          <p:cNvPr id="12" name="标题 1"/>
          <p:cNvSpPr txBox="1">
            <a:spLocks/>
          </p:cNvSpPr>
          <p:nvPr/>
        </p:nvSpPr>
        <p:spPr>
          <a:xfrm>
            <a:off x="571472" y="1785926"/>
            <a:ext cx="2286016" cy="785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簡体字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" name="标题 1"/>
          <p:cNvSpPr txBox="1">
            <a:spLocks/>
          </p:cNvSpPr>
          <p:nvPr/>
        </p:nvSpPr>
        <p:spPr>
          <a:xfrm>
            <a:off x="571472" y="4071942"/>
            <a:ext cx="2286016" cy="785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繫体字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209</Words>
  <PresentationFormat>全屏显示(4:3)</PresentationFormat>
  <Paragraphs>31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</vt:lpstr>
      <vt:lpstr>簡体字</vt:lpstr>
      <vt:lpstr>繫体字（台湾）：注音符号 (Bopomofo)</vt:lpstr>
      <vt:lpstr>ほかのインデックス例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</dc:title>
  <dc:creator>admin</dc:creator>
  <cp:lastModifiedBy>admin</cp:lastModifiedBy>
  <cp:revision>15</cp:revision>
  <dcterms:created xsi:type="dcterms:W3CDTF">2026-04-05T05:44:29Z</dcterms:created>
  <dcterms:modified xsi:type="dcterms:W3CDTF">2026-04-05T08:05:29Z</dcterms:modified>
</cp:coreProperties>
</file>